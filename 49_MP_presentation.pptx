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66" r:id="rId3"/>
    <p:sldId id="257" r:id="rId4"/>
    <p:sldId id="258" r:id="rId5"/>
    <p:sldId id="278" r:id="rId6"/>
    <p:sldId id="259" r:id="rId7"/>
    <p:sldId id="276" r:id="rId8"/>
    <p:sldId id="277" r:id="rId9"/>
    <p:sldId id="260" r:id="rId10"/>
    <p:sldId id="261" r:id="rId11"/>
    <p:sldId id="262" r:id="rId12"/>
    <p:sldId id="263" r:id="rId13"/>
    <p:sldId id="264" r:id="rId14"/>
    <p:sldId id="265" r:id="rId15"/>
    <p:sldId id="267" r:id="rId16"/>
    <p:sldId id="279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1930" y="4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2856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EE2A0B-86E8-46AD-8D7A-6254762C9557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10DD26-6872-48E8-B2DB-0BE2E3E2CD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6725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6C269-8C4E-4E0E-A28B-ACFB6E786E0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5096A-B891-4725-B4E4-581E6D34556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>
              <a:defRPr sz="3000">
                <a:latin typeface="Bookman Old Style" panose="0205060405050502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5484D9CC-97E9-43D0-9C0A-B38B6ADA7531}" type="datetime1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838200"/>
          </a:xfrm>
          <a:ln w="22225">
            <a:noFill/>
          </a:ln>
        </p:spPr>
        <p:txBody>
          <a:bodyPr>
            <a:normAutofit/>
          </a:bodyPr>
          <a:lstStyle>
            <a:lvl1pPr algn="l">
              <a:defRPr sz="3000">
                <a:solidFill>
                  <a:schemeClr val="accent2"/>
                </a:solidFill>
                <a:latin typeface="Bookman Old Style" panose="020506040505050202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77232"/>
            <a:ext cx="8229600" cy="4948932"/>
          </a:xfrm>
          <a:ln>
            <a:noFill/>
          </a:ln>
        </p:spPr>
        <p:txBody>
          <a:bodyPr/>
          <a:lstStyle>
            <a:lvl1pPr algn="just">
              <a:defRPr>
                <a:latin typeface="Bookman Old Style" panose="02050604050505020204" pitchFamily="18" charset="0"/>
                <a:cs typeface="Times New Roman" panose="02020603050405020304" pitchFamily="18" charset="0"/>
              </a:defRPr>
            </a:lvl1pPr>
            <a:lvl2pPr algn="just">
              <a:defRPr>
                <a:latin typeface="Bookman Old Style" panose="02050604050505020204" pitchFamily="18" charset="0"/>
                <a:cs typeface="Times New Roman" panose="02020603050405020304" pitchFamily="18" charset="0"/>
              </a:defRPr>
            </a:lvl2pPr>
            <a:lvl3pPr algn="just">
              <a:defRPr>
                <a:latin typeface="Bookman Old Style" panose="02050604050505020204" pitchFamily="18" charset="0"/>
                <a:cs typeface="Times New Roman" panose="02020603050405020304" pitchFamily="18" charset="0"/>
              </a:defRPr>
            </a:lvl3pPr>
            <a:lvl4pPr algn="just">
              <a:defRPr>
                <a:latin typeface="Bookman Old Style" panose="02050604050505020204" pitchFamily="18" charset="0"/>
                <a:cs typeface="Times New Roman" panose="02020603050405020304" pitchFamily="18" charset="0"/>
              </a:defRPr>
            </a:lvl4pPr>
            <a:lvl5pPr algn="just">
              <a:defRPr>
                <a:latin typeface="Bookman Old Style" panose="020506040505050202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66800" y="6356350"/>
            <a:ext cx="3048000" cy="365125"/>
          </a:xfrm>
        </p:spPr>
        <p:txBody>
          <a:bodyPr/>
          <a:lstStyle>
            <a:lvl1pPr algn="l">
              <a:defRPr sz="1200">
                <a:solidFill>
                  <a:schemeClr val="accent2"/>
                </a:solidFill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r>
              <a:rPr lang="en-US" dirty="0"/>
              <a:t>Department of Computer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6369229"/>
            <a:ext cx="381000" cy="365125"/>
          </a:xfrm>
        </p:spPr>
        <p:txBody>
          <a:bodyPr/>
          <a:lstStyle>
            <a:lvl1pPr>
              <a:defRPr sz="1200">
                <a:solidFill>
                  <a:schemeClr val="accent2"/>
                </a:solidFill>
                <a:latin typeface="Bookman Old Style" panose="02050604050505020204" pitchFamily="18" charset="0"/>
                <a:cs typeface="Times New Roman" pitchFamily="18" charset="0"/>
              </a:defRPr>
            </a:lvl1pPr>
          </a:lstStyle>
          <a:p>
            <a:fld id="{C65E9355-139B-4FED-8401-A2AF31A8FC3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 descr="logo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533400" y="6236595"/>
            <a:ext cx="507398" cy="523980"/>
          </a:xfrm>
          <a:prstGeom prst="rect">
            <a:avLst/>
          </a:prstGeom>
        </p:spPr>
      </p:pic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7555605" y="6363237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latin typeface="Times New Roman" pitchFamily="18" charset="0"/>
                <a:cs typeface="Times New Roman" pitchFamily="18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Bookman Old Style" panose="02050604050505020204" pitchFamily="18" charset="0"/>
                <a:ea typeface="+mn-ea"/>
                <a:cs typeface="Times New Roman" pitchFamily="18" charset="0"/>
              </a:rPr>
              <a:t>Slides: </a:t>
            </a:r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8305799" y="6363983"/>
            <a:ext cx="529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latin typeface="Times New Roman" pitchFamily="18" charset="0"/>
                <a:cs typeface="Times New Roman" pitchFamily="18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Bookman Old Style" panose="02050604050505020204" pitchFamily="18" charset="0"/>
                <a:ea typeface="+mn-ea"/>
                <a:cs typeface="Times New Roman" pitchFamily="18" charset="0"/>
              </a:rPr>
              <a:t>/ 20</a:t>
            </a:r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457200" y="6126163"/>
            <a:ext cx="8229600" cy="0"/>
          </a:xfrm>
          <a:prstGeom prst="line">
            <a:avLst/>
          </a:prstGeom>
          <a:ln w="22225"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457200" y="1066800"/>
            <a:ext cx="8229600" cy="0"/>
          </a:xfrm>
          <a:prstGeom prst="line">
            <a:avLst/>
          </a:prstGeom>
          <a:ln w="22225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14400"/>
            <a:ext cx="8229600" cy="5029200"/>
          </a:xfrm>
        </p:spPr>
        <p:txBody>
          <a:bodyPr>
            <a:normAutofit/>
          </a:bodyPr>
          <a:lstStyle>
            <a:lvl1pPr>
              <a:defRPr sz="3000">
                <a:latin typeface="Bookman Old Style" panose="0205060405050502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5853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DBD8763-1223-4E1C-9348-E4479451FFA2}" type="datetime1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853A3728-E260-4992-8842-3C089F6C3D88}" type="datetime1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63DE32F-317A-4950-B3B6-7B500923F79A}" type="datetime1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A1D3D62-0C66-4F15-9588-8CB96F41B0D1}" type="datetime1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3976A512-578D-4C36-9299-7E9D9DEF4439}" type="datetime1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E5A72B38-B580-4B82-B7C4-B42B85713C86}" type="datetime1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839A784A-D693-4B8B-8783-5F012B24800D}" type="datetime1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FA275D0-4AC1-4B77-8D20-030A30032762}" type="datetime1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E464FA7C-9124-49C9-8D4B-6BB473ACFAEB}" type="datetime1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5E9355-139B-4FED-8401-A2AF31A8FC3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1175"/>
            <a:ext cx="7772400" cy="1470025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accent2"/>
                </a:solidFill>
                <a:cs typeface="Times New Roman" pitchFamily="18" charset="0"/>
              </a:rPr>
              <a:t>MARTIAL WORLD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209800"/>
          </a:xfrm>
        </p:spPr>
        <p:txBody>
          <a:bodyPr>
            <a:normAutofit lnSpcReduction="10000"/>
          </a:bodyPr>
          <a:lstStyle/>
          <a:p>
            <a:pPr lvl="0">
              <a:lnSpc>
                <a:spcPct val="150000"/>
              </a:lnSpc>
              <a:spcBef>
                <a:spcPts val="0"/>
              </a:spcBef>
            </a:pPr>
            <a:r>
              <a:rPr lang="en-US" sz="1700" b="1" dirty="0">
                <a:solidFill>
                  <a:schemeClr val="tx1"/>
                </a:solidFill>
                <a:latin typeface="Bookman Old Style" panose="02050604050505020204" pitchFamily="18" charset="0"/>
                <a:cs typeface="Times New Roman" pitchFamily="18" charset="0"/>
              </a:rPr>
              <a:t>SARAN S KRISHNAN</a:t>
            </a:r>
          </a:p>
          <a:p>
            <a:pPr lvl="0">
              <a:lnSpc>
                <a:spcPct val="150000"/>
              </a:lnSpc>
              <a:spcBef>
                <a:spcPts val="0"/>
              </a:spcBef>
            </a:pPr>
            <a:r>
              <a:rPr lang="en-US" sz="1700" b="1" dirty="0">
                <a:solidFill>
                  <a:schemeClr val="tx1"/>
                </a:solidFill>
                <a:latin typeface="Bookman Old Style" panose="02050604050505020204" pitchFamily="18" charset="0"/>
                <a:cs typeface="Times New Roman" pitchFamily="18" charset="0"/>
              </a:rPr>
              <a:t>MES24MCA2049</a:t>
            </a:r>
          </a:p>
          <a:p>
            <a:pPr lvl="0">
              <a:spcBef>
                <a:spcPts val="0"/>
              </a:spcBef>
            </a:pPr>
            <a:endParaRPr lang="en-US" sz="1700" b="1" dirty="0">
              <a:solidFill>
                <a:schemeClr val="tx1"/>
              </a:solidFill>
              <a:latin typeface="Bookman Old Style" panose="02050604050505020204" pitchFamily="18" charset="0"/>
              <a:cs typeface="Times New Roman" pitchFamily="18" charset="0"/>
            </a:endParaRPr>
          </a:p>
          <a:p>
            <a:pPr lvl="0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76000"/>
              <a:defRPr/>
            </a:pPr>
            <a:r>
              <a:rPr lang="en-US" sz="1500" b="1" dirty="0">
                <a:solidFill>
                  <a:schemeClr val="tx1"/>
                </a:solidFill>
                <a:latin typeface="Bookman Old Style" panose="02050604050505020204" pitchFamily="18" charset="0"/>
                <a:cs typeface="Times New Roman" pitchFamily="18" charset="0"/>
              </a:rPr>
              <a:t>Department of Computer Applications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76000"/>
              <a:defRPr/>
            </a:pPr>
            <a:r>
              <a:rPr lang="en-US" sz="1500" b="1" dirty="0">
                <a:solidFill>
                  <a:schemeClr val="tx1"/>
                </a:solidFill>
                <a:latin typeface="Bookman Old Style" panose="02050604050505020204" pitchFamily="18" charset="0"/>
                <a:cs typeface="Times New Roman" pitchFamily="18" charset="0"/>
              </a:rPr>
              <a:t>MES College of Engineering, </a:t>
            </a:r>
            <a:r>
              <a:rPr lang="en-US" sz="1500" b="1" dirty="0" err="1">
                <a:solidFill>
                  <a:schemeClr val="tx1"/>
                </a:solidFill>
                <a:latin typeface="Bookman Old Style" panose="02050604050505020204" pitchFamily="18" charset="0"/>
                <a:cs typeface="Times New Roman" pitchFamily="18" charset="0"/>
              </a:rPr>
              <a:t>Kuttippuram</a:t>
            </a:r>
            <a:endParaRPr lang="en-US" sz="1500" b="1" dirty="0">
              <a:solidFill>
                <a:schemeClr val="tx1"/>
              </a:solidFill>
              <a:latin typeface="Bookman Old Style" panose="02050604050505020204" pitchFamily="18" charset="0"/>
              <a:cs typeface="Times New Roman" pitchFamily="18" charset="0"/>
            </a:endParaRPr>
          </a:p>
          <a:p>
            <a:pPr lvl="0">
              <a:spcBef>
                <a:spcPts val="0"/>
              </a:spcBef>
              <a:buClr>
                <a:schemeClr val="accent1"/>
              </a:buClr>
              <a:buSzPct val="76000"/>
              <a:defRPr/>
            </a:pPr>
            <a:endParaRPr lang="en-US" sz="1900" b="1" dirty="0">
              <a:solidFill>
                <a:schemeClr val="tx1"/>
              </a:solidFill>
              <a:latin typeface="Bookman Old Style" panose="02050604050505020204" pitchFamily="18" charset="0"/>
              <a:cs typeface="Times New Roman" pitchFamily="18" charset="0"/>
            </a:endParaRPr>
          </a:p>
          <a:p>
            <a:pPr>
              <a:spcBef>
                <a:spcPts val="0"/>
              </a:spcBef>
              <a:buClr>
                <a:schemeClr val="accent1"/>
              </a:buClr>
              <a:buSzPct val="76000"/>
              <a:defRPr/>
            </a:pPr>
            <a:r>
              <a:rPr lang="en-US" sz="1200" dirty="0">
                <a:solidFill>
                  <a:schemeClr val="tx1"/>
                </a:solidFill>
                <a:latin typeface="Bookman Old Style" panose="02050604050505020204" pitchFamily="18" charset="0"/>
              </a:rPr>
              <a:t>21/08/2025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236" y="2000040"/>
            <a:ext cx="1457529" cy="1505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30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PRODUCT OWNER</a:t>
            </a:r>
            <a:br>
              <a:rPr lang="en-US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500" b="1" dirty="0">
                <a:cs typeface="Times New Roman" panose="02020603050405020304" pitchFamily="18" charset="0"/>
              </a:rPr>
              <a:t>BALACHANDRAN KP</a:t>
            </a:r>
            <a:br>
              <a:rPr lang="en-US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ASSO</a:t>
            </a:r>
            <a:r>
              <a:rPr lang="en-US" dirty="0">
                <a:cs typeface="Times New Roman" panose="02020603050405020304" pitchFamily="18" charset="0"/>
              </a:rPr>
              <a:t>CIATE PROFESSOR</a:t>
            </a:r>
            <a:br>
              <a:rPr lang="en-US" sz="2000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DEPARTMENT OF COMPUTER APPLICATIONS</a:t>
            </a:r>
            <a:br>
              <a:rPr lang="en-US" sz="2000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MES COLLEGE OF ENGINEERING, KUTTIPPURAM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71055" y="1037459"/>
            <a:ext cx="2590800" cy="1678031"/>
            <a:chOff x="471055" y="1037459"/>
            <a:chExt cx="2590800" cy="1678031"/>
          </a:xfrm>
        </p:grpSpPr>
        <p:cxnSp>
          <p:nvCxnSpPr>
            <p:cNvPr id="4" name="Straight Connector 3"/>
            <p:cNvCxnSpPr/>
            <p:nvPr/>
          </p:nvCxnSpPr>
          <p:spPr>
            <a:xfrm>
              <a:off x="471055" y="1037459"/>
              <a:ext cx="2590800" cy="0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/>
            <p:cNvCxnSpPr/>
            <p:nvPr/>
          </p:nvCxnSpPr>
          <p:spPr>
            <a:xfrm>
              <a:off x="471055" y="1039090"/>
              <a:ext cx="0" cy="1676400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6019800" y="4343400"/>
            <a:ext cx="2590800" cy="1676400"/>
            <a:chOff x="6019800" y="4343400"/>
            <a:chExt cx="2590800" cy="1676400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6019800" y="6019800"/>
              <a:ext cx="2590800" cy="0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8610600" y="4343400"/>
              <a:ext cx="0" cy="1676400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9919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Functionalities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Developing Environment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Sprint Backlog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Backlog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Story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Plans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Flow Diagrams</a:t>
            </a:r>
          </a:p>
          <a:p>
            <a:pPr lvl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700" dirty="0">
                <a:latin typeface="Times New Roman" panose="02020603050405020304" pitchFamily="18" charset="0"/>
              </a:rPr>
              <a:t>ER Diagram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72432"/>
          </a:xfrm>
        </p:spPr>
        <p:txBody>
          <a:bodyPr>
            <a:normAutofit/>
          </a:bodyPr>
          <a:lstStyle/>
          <a:p>
            <a:pPr algn="l"/>
            <a:r>
              <a:rPr lang="en" dirty="0"/>
              <a:t>MARTIAL WORLD</a:t>
            </a:r>
            <a:endParaRPr lang="en-US" sz="3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Martial World is a platform for martial artists who practices martial arts or admire martial artists.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This platform includes e-commerce, entertainment and management of martial arts related contents.</a:t>
            </a:r>
          </a:p>
          <a:p>
            <a:pPr lvl="0"/>
            <a:r>
              <a:rPr lang="en-US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project includes:</a:t>
            </a:r>
          </a:p>
          <a:p>
            <a:pPr lvl="1"/>
            <a:r>
              <a:rPr lang="en-US" u="sng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Martial Mart</a:t>
            </a:r>
            <a:r>
              <a:rPr lang="en-US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An e-commerce platform that only sells products related to all kind of martial arts.</a:t>
            </a:r>
          </a:p>
          <a:p>
            <a:pPr lvl="1"/>
            <a:r>
              <a:rPr lang="en-US" u="sng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Martial Connect</a:t>
            </a:r>
            <a:r>
              <a:rPr lang="en-US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 social media platform that helps to share, connect, follows martial related contents.</a:t>
            </a:r>
          </a:p>
          <a:p>
            <a:pPr lvl="1"/>
            <a:r>
              <a:rPr lang="en-US" u="sng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Martial Track</a:t>
            </a:r>
            <a:r>
              <a:rPr lang="en-US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 platform to track our progresses and syllabus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872432"/>
          </a:xfrm>
        </p:spPr>
        <p:txBody>
          <a:bodyPr>
            <a:normAutofit/>
          </a:bodyPr>
          <a:lstStyle/>
          <a:p>
            <a:pPr algn="l"/>
            <a:r>
              <a:rPr lang="en" dirty="0"/>
              <a:t>MARTIAL WORLD</a:t>
            </a:r>
            <a:endParaRPr lang="en-US" sz="3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These helps an martial artists so much as there isn’t any platform </a:t>
            </a:r>
            <a:r>
              <a:rPr lang="en-IN" dirty="0"/>
              <a:t>separately</a:t>
            </a:r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 build for martial artists.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This organize every need of a martial artists into an single platform.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This platform also create a community among martial artists and can acknowledge about the martial arts </a:t>
            </a:r>
            <a:r>
              <a:rPr lang="en-US" dirty="0" err="1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trends,competitions,products</a:t>
            </a:r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etc</a:t>
            </a:r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…</a:t>
            </a:r>
          </a:p>
          <a:p>
            <a:pPr lvl="0"/>
            <a:endParaRPr lang="en-US" dirty="0">
              <a:solidFill>
                <a:srgbClr val="000000"/>
              </a:solidFill>
              <a:ea typeface="Times New Roman"/>
              <a:cs typeface="Times New Roman"/>
              <a:sym typeface="Times New Roman"/>
            </a:endParaRPr>
          </a:p>
          <a:p>
            <a:pPr lvl="0"/>
            <a:endParaRPr lang="en-US" dirty="0">
              <a:solidFill>
                <a:srgbClr val="000000"/>
              </a:solidFill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923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The objective of this project is to design and develop a comprehensive web-based platform that enables martial artists to find good products needed for their practice, track progress, and engage with a global community through a social media platform for martial artists.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CA5DB-C95B-9274-6CC6-BBDD6124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7FD21-F072-514B-1259-00E2A2C72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EXISTING SYSTEM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013F8-EA75-8B73-B691-9967DDB14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There are no specific platforms that focuses on martial artists. 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Some platforms offers martial artists what they need but not in a convenient way.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And there is no platforms that offers e-commerce, entertainments and progress tracking under the same umbrella.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633661-B8A5-5F64-B0B3-F069AAD4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645143-4DA4-EC25-D400-31811F433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680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89323-CAA4-5F8F-BC23-AF2428BA7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72957-0B3A-B1DC-4183-C152345F0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PROPOSED SYSTEM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433FB-9787-5DBA-F8F3-B66560196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Martial World is an another level web based platform for martial artists.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Martial world contain e-commerce platform for products needed for martial art practice, social media platform to connect all martial artists and share their techniques and skills, and a progress tracking and syllabus following section to keep and follow your progress.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A7E54E-77D1-E994-4D0C-795437799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Computer Applications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B7F26-E457-6E29-93A0-124CF9B8E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749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MOTIVATIONS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As a martial arts practitioner for over a decade and as an instructor, I faced challenges of accessing training resources and finding martial arts contents in every social media platforms and also keeping track of my martial arts progress. So I come with the idea of an web-based platform for martial artists called Martial World.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FUNCTIONALITIES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E-commerce platform that only have products needed for martial artists.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Social media platform for martial artists which they can posts photos and videos of martial arts techniques and anyone can follow other martial arts practitioners.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Progress tracking or syllabus for physical development.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MODULE DESCRIPTION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User Authentication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E-commerce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Video Management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Progress Tracker</a:t>
            </a:r>
          </a:p>
          <a:p>
            <a:pPr lvl="0"/>
            <a:r>
              <a:rPr lang="en-US" dirty="0">
                <a:solidFill>
                  <a:srgbClr val="000000"/>
                </a:solidFill>
                <a:ea typeface="Times New Roman"/>
                <a:cs typeface="Times New Roman"/>
                <a:sym typeface="Times New Roman"/>
              </a:rPr>
              <a:t>Admin Dashboard</a:t>
            </a:r>
          </a:p>
          <a:p>
            <a:pPr lvl="0"/>
            <a:endParaRPr lang="en-US" dirty="0">
              <a:solidFill>
                <a:srgbClr val="000000"/>
              </a:solidFill>
              <a:ea typeface="Times New Roman"/>
              <a:cs typeface="Times New Roman"/>
              <a:sym typeface="Times New Roman"/>
            </a:endParaRP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DEVELOPING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Operating System: </a:t>
            </a:r>
            <a:r>
              <a:rPr lang="en-US" dirty="0" err="1"/>
              <a:t>Windows,Linux</a:t>
            </a:r>
            <a:endParaRPr lang="en-US" dirty="0"/>
          </a:p>
          <a:p>
            <a:r>
              <a:rPr lang="en-US" dirty="0"/>
              <a:t>Front End: html, </a:t>
            </a:r>
            <a:r>
              <a:rPr lang="en-US" dirty="0" err="1"/>
              <a:t>css</a:t>
            </a:r>
            <a:r>
              <a:rPr lang="en-US" dirty="0"/>
              <a:t>, </a:t>
            </a:r>
            <a:r>
              <a:rPr lang="en-US" dirty="0" err="1"/>
              <a:t>javascript</a:t>
            </a:r>
            <a:endParaRPr lang="en-US" dirty="0"/>
          </a:p>
          <a:p>
            <a:r>
              <a:rPr lang="en-US" dirty="0"/>
              <a:t>Back End: </a:t>
            </a:r>
            <a:r>
              <a:rPr lang="en-US" dirty="0" err="1"/>
              <a:t>javascript</a:t>
            </a:r>
            <a:r>
              <a:rPr lang="en-US" dirty="0"/>
              <a:t>(Node.js),Express.</a:t>
            </a:r>
          </a:p>
          <a:p>
            <a:r>
              <a:rPr lang="en-US" dirty="0"/>
              <a:t>Database: SQLite/Firebase</a:t>
            </a:r>
          </a:p>
          <a:p>
            <a:r>
              <a:rPr lang="en-US" dirty="0"/>
              <a:t>IDE: Visual Studio Code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BACKLOG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13</a:t>
            </a:fld>
            <a:endParaRPr lang="en-US"/>
          </a:p>
        </p:txBody>
      </p:sp>
      <p:graphicFrame>
        <p:nvGraphicFramePr>
          <p:cNvPr id="6" name="Google Shape;409;p32"/>
          <p:cNvGraphicFramePr/>
          <p:nvPr>
            <p:extLst>
              <p:ext uri="{D42A27DB-BD31-4B8C-83A1-F6EECF244321}">
                <p14:modId xmlns:p14="http://schemas.microsoft.com/office/powerpoint/2010/main" val="1360559525"/>
              </p:ext>
            </p:extLst>
          </p:nvPr>
        </p:nvGraphicFramePr>
        <p:xfrm>
          <a:off x="457200" y="1177232"/>
          <a:ext cx="8229599" cy="51100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355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23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2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19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41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0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361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5361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361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5361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536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5361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99682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/>
                        <a:t>Backlog item </a:t>
                      </a:r>
                      <a:endParaRPr sz="12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/>
                        <a:t>Status And Completion Date</a:t>
                      </a:r>
                      <a:endParaRPr sz="12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/>
                        <a:t>Original Estimation in Hours </a:t>
                      </a:r>
                      <a:endParaRPr sz="12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1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2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3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4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5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6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7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8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9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10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991">
                <a:tc gridSpan="1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dirty="0"/>
                        <a:t>SPRINT1</a:t>
                      </a:r>
                      <a:endParaRPr sz="13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52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User Profile designing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22/8/2022</a:t>
                      </a:r>
                      <a:endParaRPr sz="10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52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Style implimentation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25/8/2022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99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Coding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29/8/2022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991">
                <a:tc gridSpan="1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dirty="0"/>
                        <a:t>SPRINT 2</a:t>
                      </a:r>
                      <a:endParaRPr sz="13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52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B</a:t>
                      </a:r>
                      <a:r>
                        <a:rPr lang="en-IN" sz="1100" dirty="0"/>
                        <a:t>u</a:t>
                      </a:r>
                      <a:r>
                        <a:rPr lang="en" sz="1100" dirty="0"/>
                        <a:t>ild seller gear listing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2/9/2022</a:t>
                      </a:r>
                      <a:endParaRPr sz="10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251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Data processing</a:t>
                      </a:r>
                      <a:endParaRPr sz="110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9/9/2022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BACKLOG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14</a:t>
            </a:fld>
            <a:endParaRPr lang="en-US"/>
          </a:p>
        </p:txBody>
      </p:sp>
      <p:graphicFrame>
        <p:nvGraphicFramePr>
          <p:cNvPr id="8" name="Google Shape;417;p33"/>
          <p:cNvGraphicFramePr/>
          <p:nvPr>
            <p:extLst>
              <p:ext uri="{D42A27DB-BD31-4B8C-83A1-F6EECF244321}">
                <p14:modId xmlns:p14="http://schemas.microsoft.com/office/powerpoint/2010/main" val="3483623322"/>
              </p:ext>
            </p:extLst>
          </p:nvPr>
        </p:nvGraphicFramePr>
        <p:xfrm>
          <a:off x="457200" y="1241611"/>
          <a:ext cx="8229603" cy="488455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355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23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2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19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41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0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36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536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361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5361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5361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5361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03734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/>
                        <a:t>Backlog item </a:t>
                      </a:r>
                      <a:endParaRPr sz="12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/>
                        <a:t>Status And Completion Date</a:t>
                      </a:r>
                      <a:endParaRPr sz="12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/>
                        <a:t>Original Estimation in Hours </a:t>
                      </a:r>
                      <a:endParaRPr sz="12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1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2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3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4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5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6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7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8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9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Day 10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hrs</a:t>
                      </a:r>
                      <a:endParaRPr sz="1100"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3580">
                <a:tc gridSpan="1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dirty="0"/>
                        <a:t>SPRINT3</a:t>
                      </a:r>
                      <a:endParaRPr sz="13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8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dirty="0"/>
                        <a:t>I</a:t>
                      </a:r>
                      <a:r>
                        <a:rPr lang="en" sz="1100" dirty="0"/>
                        <a:t>mplement buyer checkout 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16/9/2022</a:t>
                      </a:r>
                      <a:endParaRPr sz="10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7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94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Impliment  connection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25/9/2022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7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3580">
                <a:tc gridSpan="1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dirty="0"/>
                        <a:t>SPRINT 4</a:t>
                      </a:r>
                      <a:endParaRPr sz="13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494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 Admin dashboard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3/10/2022</a:t>
                      </a:r>
                      <a:endParaRPr sz="10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7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99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Testing</a:t>
                      </a:r>
                      <a:endParaRPr sz="110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r>
                        <a:rPr lang="en" sz="1000" dirty="0"/>
                        <a:t>0</a:t>
                      </a:r>
                      <a:r>
                        <a:rPr lang="en" sz="1000"/>
                        <a:t>/10/2022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99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/>
                        <a:t>TOTAL</a:t>
                      </a:r>
                      <a:endParaRPr sz="1100" b="1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50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9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9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6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BACKLOG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15</a:t>
            </a:fld>
            <a:endParaRPr lang="en-US" dirty="0"/>
          </a:p>
        </p:txBody>
      </p:sp>
      <p:graphicFrame>
        <p:nvGraphicFramePr>
          <p:cNvPr id="6" name="Google Shape;374;p27"/>
          <p:cNvGraphicFramePr/>
          <p:nvPr>
            <p:extLst>
              <p:ext uri="{D42A27DB-BD31-4B8C-83A1-F6EECF244321}">
                <p14:modId xmlns:p14="http://schemas.microsoft.com/office/powerpoint/2010/main" val="2608275738"/>
              </p:ext>
            </p:extLst>
          </p:nvPr>
        </p:nvGraphicFramePr>
        <p:xfrm>
          <a:off x="489375" y="1219201"/>
          <a:ext cx="8197425" cy="490696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618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88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88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88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221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5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        </a:t>
                      </a:r>
                      <a:r>
                        <a:rPr lang="en" b="1" dirty="0"/>
                        <a:t> ID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     </a:t>
                      </a:r>
                      <a:r>
                        <a:rPr lang="en" b="1" dirty="0"/>
                        <a:t>NAME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PRIORITY</a:t>
                      </a:r>
                      <a:endParaRPr b="1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/>
                        <a:t>   </a:t>
                      </a:r>
                      <a:r>
                        <a:rPr lang="en" sz="1200" b="1" dirty="0"/>
                        <a:t>&lt;high/medium/low&gt;</a:t>
                      </a:r>
                      <a:endParaRPr sz="12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ESTIMATE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 dirty="0"/>
                        <a:t>(Hours)</a:t>
                      </a:r>
                      <a:endParaRPr sz="13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STATUS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&lt;Planned/In progress/Completed&gt;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0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REGISTRATION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High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04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LOGIN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High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310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3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MARTIAL MART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High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89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4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MARTIAL CONNECT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Medium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89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5</a:t>
                      </a:r>
                      <a:endParaRPr dirty="0"/>
                    </a:p>
                  </a:txBody>
                  <a:tcPr marL="91425" marR="91425" marT="91425" marB="9142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MARTIAL TRACK</a:t>
                      </a:r>
                      <a:endParaRPr dirty="0"/>
                    </a:p>
                  </a:txBody>
                  <a:tcPr marL="91425" marR="91425" marT="91425" marB="91425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Low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10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PLANNED</a:t>
                      </a:r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3277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55CDE-9157-D5F6-748E-3C7A47B6A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23810-CD3B-6124-FF39-5ABCA1D7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63651-4FB3-F0DE-BABA-3938BE5A1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92B25-967C-FBCF-C90F-7EBD2B795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EDF25C-266B-F46F-33EE-B1A548D63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6" name="Google Shape;381;p28">
            <a:extLst>
              <a:ext uri="{FF2B5EF4-FFF2-40B4-BE49-F238E27FC236}">
                <a16:creationId xmlns:a16="http://schemas.microsoft.com/office/drawing/2014/main" id="{DD2FA8DD-C248-AF60-BB00-B7B48C45E0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500749"/>
              </p:ext>
            </p:extLst>
          </p:nvPr>
        </p:nvGraphicFramePr>
        <p:xfrm>
          <a:off x="515964" y="1177232"/>
          <a:ext cx="8229600" cy="494893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48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3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63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9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349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 User Story ID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As a type of User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I want to </a:t>
                      </a:r>
                      <a:endParaRPr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&lt;Perform some task&gt;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So that i can</a:t>
                      </a:r>
                      <a:endParaRPr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&lt;Achieve Some Goal&gt; 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49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  1 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ADMIN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Login</a:t>
                      </a:r>
                      <a:endParaRPr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login successful with correct username and password</a:t>
                      </a:r>
                      <a:r>
                        <a:rPr lang="en"/>
                        <a:t> 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2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ADMIN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Upload contents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dirty="0"/>
                        <a:t>Make item available in the system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531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ADMIN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View and manage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dirty="0"/>
                        <a:t>View contents and manage users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4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ADMIN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List items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dirty="0"/>
                        <a:t>Sell the products to buyers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67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USER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Register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Can users register</a:t>
                      </a:r>
                      <a:r>
                        <a:rPr lang="en" sz="1300" dirty="0"/>
                        <a:t> </a:t>
                      </a:r>
                      <a:endParaRPr sz="13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879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USER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Login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/>
                        <a:t>login successful with correct username and password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USER</a:t>
                      </a:r>
                      <a:endParaRPr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View Profile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View users profile in application</a:t>
                      </a:r>
                      <a:endParaRPr sz="12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58596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17</a:t>
            </a:fld>
            <a:endParaRPr lang="en-US" dirty="0"/>
          </a:p>
        </p:txBody>
      </p:sp>
      <p:graphicFrame>
        <p:nvGraphicFramePr>
          <p:cNvPr id="6" name="Google Shape;381;p28"/>
          <p:cNvGraphicFramePr/>
          <p:nvPr>
            <p:extLst>
              <p:ext uri="{D42A27DB-BD31-4B8C-83A1-F6EECF244321}">
                <p14:modId xmlns:p14="http://schemas.microsoft.com/office/powerpoint/2010/main" val="344807206"/>
              </p:ext>
            </p:extLst>
          </p:nvPr>
        </p:nvGraphicFramePr>
        <p:xfrm>
          <a:off x="515964" y="1177232"/>
          <a:ext cx="7942234" cy="216208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783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9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896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910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 User Story ID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As a type of User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I want to </a:t>
                      </a:r>
                      <a:endParaRPr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&lt;Perform some task&gt;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So that i can</a:t>
                      </a:r>
                      <a:endParaRPr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/>
                        <a:t>&lt;Achieve Some Goal&gt; </a:t>
                      </a:r>
                      <a:endParaRPr sz="1100"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0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8  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User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Browse and </a:t>
                      </a:r>
                      <a:r>
                        <a:rPr lang="en-IN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purchace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gear</a:t>
                      </a:r>
                      <a:endParaRPr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dirty="0"/>
                        <a:t>Get quality equipment from trusted sellers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53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9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Martial Artists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Track my training progress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100" dirty="0"/>
                        <a:t>Stay motivated and measure improvement</a:t>
                      </a:r>
                      <a:endParaRPr sz="11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0335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18</a:t>
            </a:fld>
            <a:endParaRPr lang="en-US" dirty="0"/>
          </a:p>
        </p:txBody>
      </p:sp>
      <p:graphicFrame>
        <p:nvGraphicFramePr>
          <p:cNvPr id="7" name="Google Shape;395;p30"/>
          <p:cNvGraphicFramePr/>
          <p:nvPr>
            <p:extLst>
              <p:ext uri="{D42A27DB-BD31-4B8C-83A1-F6EECF244321}">
                <p14:modId xmlns:p14="http://schemas.microsoft.com/office/powerpoint/2010/main" val="930763484"/>
              </p:ext>
            </p:extLst>
          </p:nvPr>
        </p:nvGraphicFramePr>
        <p:xfrm>
          <a:off x="533400" y="1244861"/>
          <a:ext cx="8091210" cy="436827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15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03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03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03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03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41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127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User</a:t>
                      </a:r>
                      <a:endParaRPr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StoryID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Task Name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Start Date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End Date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   Days 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  Status</a:t>
                      </a:r>
                      <a:endParaRPr b="1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79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 Sprint 1</a:t>
                      </a:r>
                      <a:endParaRPr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     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22/08/2022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24/08/2022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3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9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25/08/2022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28/08/2022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79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3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29/08/2022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01/09/2022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79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4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Sprint 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02/09/2022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08/09/2022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7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79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09/09/2022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15/09/2022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79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6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Sprint 3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16/09/25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24/09/25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7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6602303"/>
                  </a:ext>
                </a:extLst>
              </a:tr>
              <a:tr h="50793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7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25/09/25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02/10/25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1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9722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19</a:t>
            </a:fld>
            <a:endParaRPr lang="en-US" dirty="0"/>
          </a:p>
        </p:txBody>
      </p:sp>
      <p:graphicFrame>
        <p:nvGraphicFramePr>
          <p:cNvPr id="6" name="Google Shape;402;p31"/>
          <p:cNvGraphicFramePr/>
          <p:nvPr>
            <p:extLst>
              <p:ext uri="{D42A27DB-BD31-4B8C-83A1-F6EECF244321}">
                <p14:modId xmlns:p14="http://schemas.microsoft.com/office/powerpoint/2010/main" val="891241710"/>
              </p:ext>
            </p:extLst>
          </p:nvPr>
        </p:nvGraphicFramePr>
        <p:xfrm>
          <a:off x="505691" y="1219200"/>
          <a:ext cx="8104910" cy="2206667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339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30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3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30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0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30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565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User</a:t>
                      </a:r>
                      <a:endParaRPr b="1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StoryID</a:t>
                      </a:r>
                      <a:endParaRPr b="1"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Task Name</a:t>
                      </a:r>
                      <a:endParaRPr b="1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Start Date</a:t>
                      </a:r>
                      <a:endParaRPr b="1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End Date</a:t>
                      </a:r>
                      <a:endParaRPr b="1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   Days </a:t>
                      </a:r>
                      <a:endParaRPr b="1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  Status</a:t>
                      </a:r>
                      <a:endParaRPr b="1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07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8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SPRINT 4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03/10/2022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09/10/2022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  7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507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9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10/10/2022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10/10/2022</a:t>
                      </a:r>
                      <a:endParaRPr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Planned</a:t>
                      </a:r>
                      <a:endParaRPr dirty="0"/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6521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LEVEL 1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1B7DD0-D24E-D332-B42C-9AF7365DAD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" y="1676400"/>
            <a:ext cx="7848600" cy="4120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0133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Level 1.1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Applications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9355-139B-4FED-8401-A2AF31A8FC31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70A2D3B-2756-C4A2-6CAA-DD0FA2DDF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1752600"/>
            <a:ext cx="8991600" cy="4137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42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 DIAGRAM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Computer Applications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077200" y="6356351"/>
            <a:ext cx="381000" cy="378004"/>
          </a:xfrm>
        </p:spPr>
        <p:txBody>
          <a:bodyPr/>
          <a:lstStyle/>
          <a:p>
            <a:fld id="{C65E9355-139B-4FED-8401-A2AF31A8FC31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8EE0DE-6909-7F6B-8AEF-A0A4D7E879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3000"/>
            <a:ext cx="9067800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0022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2872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6FF0E3A-CE68-446F-8671-72D11C7753AE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826</TotalTime>
  <Words>1137</Words>
  <Application>Microsoft Office PowerPoint</Application>
  <PresentationFormat>On-screen Show (4:3)</PresentationFormat>
  <Paragraphs>437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Bookman Old Style</vt:lpstr>
      <vt:lpstr>Calibri</vt:lpstr>
      <vt:lpstr>Times New Roman</vt:lpstr>
      <vt:lpstr>Office Theme</vt:lpstr>
      <vt:lpstr>MARTIAL WORLD</vt:lpstr>
      <vt:lpstr>PRODUCT OWNER  BALACHANDRAN KP  ASSOCIATE PROFESSOR DEPARTMENT OF COMPUTER APPLICATIONS MES COLLEGE OF ENGINEERING, KUTTIPPURAM</vt:lpstr>
      <vt:lpstr>TABLE OF CONTENTS</vt:lpstr>
      <vt:lpstr>MARTIAL WORLD</vt:lpstr>
      <vt:lpstr>MARTIAL WORLD</vt:lpstr>
      <vt:lpstr>OBJECTIVES</vt:lpstr>
      <vt:lpstr>EXISTING SYSTEM</vt:lpstr>
      <vt:lpstr>PROPOSED SYSTEM</vt:lpstr>
      <vt:lpstr>MOTIVATIONS</vt:lpstr>
      <vt:lpstr>FUNCTIONALITIES</vt:lpstr>
      <vt:lpstr>MODULE DESCRIPTION</vt:lpstr>
      <vt:lpstr>DEVELOPING ENVIRONMENT</vt:lpstr>
      <vt:lpstr>SPRINT BACKLOG</vt:lpstr>
      <vt:lpstr>SPRINT BACKLOG</vt:lpstr>
      <vt:lpstr>PRODUCT BACKLOG</vt:lpstr>
      <vt:lpstr>USER STORY</vt:lpstr>
      <vt:lpstr>USER STORY</vt:lpstr>
      <vt:lpstr>PROJECT PLAN</vt:lpstr>
      <vt:lpstr>PROJECT PLAN</vt:lpstr>
      <vt:lpstr>DATA FLOW DIAGRAM</vt:lpstr>
      <vt:lpstr>DATA FLOW DIAGRAM</vt:lpstr>
      <vt:lpstr>ER DIAGRAM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Faculty</dc:creator>
  <cp:lastModifiedBy>Saran S Krishnan</cp:lastModifiedBy>
  <cp:revision>51</cp:revision>
  <dcterms:created xsi:type="dcterms:W3CDTF">2024-09-27T10:56:22Z</dcterms:created>
  <dcterms:modified xsi:type="dcterms:W3CDTF">2025-08-20T09:03:04Z</dcterms:modified>
</cp:coreProperties>
</file>