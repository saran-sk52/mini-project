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6" r:id="rId3"/>
    <p:sldId id="257" r:id="rId4"/>
    <p:sldId id="258" r:id="rId5"/>
    <p:sldId id="278" r:id="rId6"/>
    <p:sldId id="259" r:id="rId7"/>
    <p:sldId id="276" r:id="rId8"/>
    <p:sldId id="277" r:id="rId9"/>
    <p:sldId id="260" r:id="rId10"/>
    <p:sldId id="261" r:id="rId11"/>
    <p:sldId id="262" r:id="rId12"/>
    <p:sldId id="263" r:id="rId13"/>
    <p:sldId id="264" r:id="rId14"/>
    <p:sldId id="265" r:id="rId15"/>
    <p:sldId id="267" r:id="rId16"/>
    <p:sldId id="268" r:id="rId17"/>
    <p:sldId id="269" r:id="rId18"/>
    <p:sldId id="270" r:id="rId19"/>
    <p:sldId id="271" r:id="rId20"/>
    <p:sldId id="272" r:id="rId21"/>
    <p:sldId id="275" r:id="rId22"/>
    <p:sldId id="273" r:id="rId23"/>
    <p:sldId id="27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E2A0B-86E8-46AD-8D7A-6254762C9557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0DD26-6872-48E8-B2DB-0BE2E3E2C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725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6C269-8C4E-4E0E-A28B-ACFB6E786E0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5096A-B891-4725-B4E4-581E6D34556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3000"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484D9CC-97E9-43D0-9C0A-B38B6ADA7531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  <a:ln w="22225">
            <a:noFill/>
          </a:ln>
        </p:spPr>
        <p:txBody>
          <a:bodyPr>
            <a:normAutofit/>
          </a:bodyPr>
          <a:lstStyle>
            <a:lvl1pPr algn="l">
              <a:defRPr sz="3000">
                <a:solidFill>
                  <a:schemeClr val="accent2"/>
                </a:solidFill>
                <a:latin typeface="Bookman Old Style" panose="0205060405050502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7232"/>
            <a:ext cx="8229600" cy="4948932"/>
          </a:xfrm>
          <a:ln>
            <a:noFill/>
          </a:ln>
        </p:spPr>
        <p:txBody>
          <a:bodyPr/>
          <a:lstStyle>
            <a:lvl1pPr algn="just">
              <a:defRPr>
                <a:latin typeface="Bookman Old Style" panose="02050604050505020204" pitchFamily="18" charset="0"/>
                <a:cs typeface="Times New Roman" panose="02020603050405020304" pitchFamily="18" charset="0"/>
              </a:defRPr>
            </a:lvl1pPr>
            <a:lvl2pPr algn="just">
              <a:defRPr>
                <a:latin typeface="Bookman Old Style" panose="02050604050505020204" pitchFamily="18" charset="0"/>
                <a:cs typeface="Times New Roman" panose="02020603050405020304" pitchFamily="18" charset="0"/>
              </a:defRPr>
            </a:lvl2pPr>
            <a:lvl3pPr algn="just">
              <a:defRPr>
                <a:latin typeface="Bookman Old Style" panose="02050604050505020204" pitchFamily="18" charset="0"/>
                <a:cs typeface="Times New Roman" panose="02020603050405020304" pitchFamily="18" charset="0"/>
              </a:defRPr>
            </a:lvl3pPr>
            <a:lvl4pPr algn="just">
              <a:defRPr>
                <a:latin typeface="Bookman Old Style" panose="02050604050505020204" pitchFamily="18" charset="0"/>
                <a:cs typeface="Times New Roman" panose="02020603050405020304" pitchFamily="18" charset="0"/>
              </a:defRPr>
            </a:lvl4pPr>
            <a:lvl5pPr algn="just">
              <a:defRPr>
                <a:latin typeface="Bookman Old Style" panose="0205060405050502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3048000" cy="365125"/>
          </a:xfrm>
        </p:spPr>
        <p:txBody>
          <a:bodyPr/>
          <a:lstStyle>
            <a:lvl1pPr algn="l">
              <a:defRPr sz="1200">
                <a:solidFill>
                  <a:schemeClr val="accent2"/>
                </a:solidFill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369229"/>
            <a:ext cx="381000" cy="365125"/>
          </a:xfrm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fld id="{C65E9355-139B-4FED-8401-A2AF31A8FC3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33400" y="6236595"/>
            <a:ext cx="507398" cy="523980"/>
          </a:xfrm>
          <a:prstGeom prst="rect">
            <a:avLst/>
          </a:prstGeom>
        </p:spPr>
      </p:pic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7555605" y="636323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Times New Roman" pitchFamily="18" charset="0"/>
              </a:rPr>
              <a:t>Slides: </a:t>
            </a: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8305799" y="6363983"/>
            <a:ext cx="529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Times New Roman" pitchFamily="18" charset="0"/>
              </a:rPr>
              <a:t>/ 20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6126163"/>
            <a:ext cx="8229600" cy="0"/>
          </a:xfrm>
          <a:prstGeom prst="line">
            <a:avLst/>
          </a:prstGeom>
          <a:ln w="2222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457200" y="1066800"/>
            <a:ext cx="8229600" cy="0"/>
          </a:xfrm>
          <a:prstGeom prst="line">
            <a:avLst/>
          </a:prstGeom>
          <a:ln w="22225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5029200"/>
          </a:xfrm>
        </p:spPr>
        <p:txBody>
          <a:bodyPr>
            <a:normAutofit/>
          </a:bodyPr>
          <a:lstStyle>
            <a:lvl1pPr>
              <a:defRPr sz="3000"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853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DBD8763-1223-4E1C-9348-E4479451FFA2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53A3728-E260-4992-8842-3C089F6C3D88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63DE32F-317A-4950-B3B6-7B500923F79A}" type="datetime1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1D3D62-0C66-4F15-9588-8CB96F41B0D1}" type="datetime1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976A512-578D-4C36-9299-7E9D9DEF4439}" type="datetime1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5A72B38-B580-4B82-B7C4-B42B85713C86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39A784A-D693-4B8B-8783-5F012B24800D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A275D0-4AC1-4B77-8D20-030A30032762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64FA7C-9124-49C9-8D4B-6BB473ACFAEB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1175"/>
            <a:ext cx="7772400" cy="147002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&lt;PROJECT TITLE&gt;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209800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1700" b="1" dirty="0">
                <a:solidFill>
                  <a:schemeClr val="tx1"/>
                </a:solidFill>
                <a:latin typeface="Bookman Old Style" panose="02050604050505020204" pitchFamily="18" charset="0"/>
                <a:cs typeface="Times New Roman" pitchFamily="18" charset="0"/>
              </a:rPr>
              <a:t>SARAN S KRISHNAN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1700" b="1" dirty="0">
                <a:solidFill>
                  <a:schemeClr val="tx1"/>
                </a:solidFill>
                <a:latin typeface="Bookman Old Style" panose="02050604050505020204" pitchFamily="18" charset="0"/>
                <a:cs typeface="Times New Roman" pitchFamily="18" charset="0"/>
              </a:rPr>
              <a:t>MES24MCA2049</a:t>
            </a:r>
          </a:p>
          <a:p>
            <a:pPr lvl="0">
              <a:spcBef>
                <a:spcPts val="0"/>
              </a:spcBef>
            </a:pPr>
            <a:endParaRPr lang="en-US" sz="1700" b="1" dirty="0">
              <a:solidFill>
                <a:schemeClr val="tx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6000"/>
              <a:defRPr/>
            </a:pPr>
            <a:r>
              <a:rPr lang="en-US" sz="1500" b="1" dirty="0">
                <a:solidFill>
                  <a:schemeClr val="tx1"/>
                </a:solidFill>
                <a:latin typeface="Bookman Old Style" panose="02050604050505020204" pitchFamily="18" charset="0"/>
                <a:cs typeface="Times New Roman" pitchFamily="18" charset="0"/>
              </a:rPr>
              <a:t>Department of Computer Applications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6000"/>
              <a:defRPr/>
            </a:pPr>
            <a:r>
              <a:rPr lang="en-US" sz="1500" b="1" dirty="0">
                <a:solidFill>
                  <a:schemeClr val="tx1"/>
                </a:solidFill>
                <a:latin typeface="Bookman Old Style" panose="02050604050505020204" pitchFamily="18" charset="0"/>
                <a:cs typeface="Times New Roman" pitchFamily="18" charset="0"/>
              </a:rPr>
              <a:t>MES College of Engineering, </a:t>
            </a:r>
            <a:r>
              <a:rPr lang="en-US" sz="1500" b="1" dirty="0" err="1">
                <a:solidFill>
                  <a:schemeClr val="tx1"/>
                </a:solidFill>
                <a:latin typeface="Bookman Old Style" panose="02050604050505020204" pitchFamily="18" charset="0"/>
                <a:cs typeface="Times New Roman" pitchFamily="18" charset="0"/>
              </a:rPr>
              <a:t>Kuttippuram</a:t>
            </a:r>
            <a:endParaRPr lang="en-US" sz="1500" b="1" dirty="0">
              <a:solidFill>
                <a:schemeClr val="tx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lvl="0">
              <a:spcBef>
                <a:spcPts val="0"/>
              </a:spcBef>
              <a:buClr>
                <a:schemeClr val="accent1"/>
              </a:buClr>
              <a:buSzPct val="76000"/>
              <a:defRPr/>
            </a:pPr>
            <a:endParaRPr lang="en-US" sz="1900" b="1" dirty="0">
              <a:solidFill>
                <a:schemeClr val="tx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Clr>
                <a:schemeClr val="accent1"/>
              </a:buClr>
              <a:buSzPct val="76000"/>
              <a:defRPr/>
            </a:pPr>
            <a:r>
              <a:rPr lang="en-US" sz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20/08/2025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236" y="2000040"/>
            <a:ext cx="1457529" cy="1505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PRODUCT OWNER</a:t>
            </a:r>
            <a:b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500" b="1" dirty="0">
                <a:cs typeface="Times New Roman" panose="02020603050405020304" pitchFamily="18" charset="0"/>
              </a:rPr>
              <a:t>BALACHANDHRAN KP</a:t>
            </a:r>
            <a:b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ASSO</a:t>
            </a:r>
            <a:r>
              <a:rPr lang="en-US" dirty="0">
                <a:cs typeface="Times New Roman" panose="02020603050405020304" pitchFamily="18" charset="0"/>
              </a:rPr>
              <a:t>CIATE PROFESSOR</a:t>
            </a:r>
            <a:br>
              <a:rPr lang="en-US" sz="2000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COMPUTER APPLICATIONS</a:t>
            </a:r>
            <a:br>
              <a:rPr lang="en-US" sz="2000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MES COLLEGE OF ENGINEERING, KUTTIPPURAM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71055" y="1037459"/>
            <a:ext cx="2590800" cy="1678031"/>
            <a:chOff x="471055" y="1037459"/>
            <a:chExt cx="2590800" cy="1678031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471055" y="1037459"/>
              <a:ext cx="259080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>
              <a:off x="471055" y="1039090"/>
              <a:ext cx="0" cy="167640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6019800" y="4343400"/>
            <a:ext cx="2590800" cy="1676400"/>
            <a:chOff x="6019800" y="4343400"/>
            <a:chExt cx="2590800" cy="16764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6019800" y="6019800"/>
              <a:ext cx="259080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8610600" y="4343400"/>
              <a:ext cx="0" cy="167640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9919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Environment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Backlog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Story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Plans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Diagrams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</a:rPr>
              <a:t>ER Diagram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72432"/>
          </a:xfrm>
        </p:spPr>
        <p:txBody>
          <a:bodyPr>
            <a:normAutofit/>
          </a:bodyPr>
          <a:lstStyle/>
          <a:p>
            <a:pPr algn="l"/>
            <a:r>
              <a:rPr lang="en" dirty="0"/>
              <a:t>MARTIAL WORLD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Martial World is a platform for martial artists who practices martial arts or admire martial artists.</a:t>
            </a:r>
          </a:p>
          <a:p>
            <a:pPr lvl="0"/>
            <a:r>
              <a:rPr lang="en-US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This platform includes e-commerce, entertainment and management of martial arts related contents.</a:t>
            </a:r>
          </a:p>
          <a:p>
            <a:pPr lvl="0"/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includes:</a:t>
            </a:r>
          </a:p>
          <a:p>
            <a:pPr lvl="1"/>
            <a:r>
              <a:rPr lang="en-US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Martial Mart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An e-commerce platform that only sells products related to all kind of martial arts.</a:t>
            </a:r>
          </a:p>
          <a:p>
            <a:pPr lvl="1"/>
            <a:r>
              <a:rPr lang="en-US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Martial Connect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social media platform that helps to share, connect, follows martial related contents.</a:t>
            </a:r>
          </a:p>
          <a:p>
            <a:pPr lvl="1"/>
            <a:r>
              <a:rPr lang="en-US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Martial Track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platform to track our progresses and syllabus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72432"/>
          </a:xfrm>
        </p:spPr>
        <p:txBody>
          <a:bodyPr>
            <a:normAutofit/>
          </a:bodyPr>
          <a:lstStyle/>
          <a:p>
            <a:pPr algn="l"/>
            <a:r>
              <a:rPr lang="en" dirty="0"/>
              <a:t>MARTIAL WORLD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These helps an martial artists so much as there isn’t any platform </a:t>
            </a:r>
            <a:r>
              <a:rPr lang="en-IN" dirty="0"/>
              <a:t>separately</a:t>
            </a:r>
            <a:r>
              <a:rPr lang="en-US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 build for martial artists.</a:t>
            </a:r>
          </a:p>
          <a:p>
            <a:pPr lvl="0"/>
            <a:r>
              <a:rPr lang="en-US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This organize every need of a martial artists into an </a:t>
            </a:r>
            <a:r>
              <a:rPr lang="en-US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single platform.</a:t>
            </a:r>
          </a:p>
          <a:p>
            <a:pPr lvl="0"/>
            <a:endParaRPr lang="en-US" dirty="0">
              <a:solidFill>
                <a:srgbClr val="000000"/>
              </a:solidFill>
              <a:ea typeface="Times New Roman"/>
              <a:cs typeface="Times New Roman"/>
              <a:sym typeface="Times New Roman"/>
            </a:endParaRPr>
          </a:p>
          <a:p>
            <a:pPr lvl="0"/>
            <a:endParaRPr lang="en-US" dirty="0">
              <a:solidFill>
                <a:srgbClr val="000000"/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23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Write Project Objectives using bullet points (1 Slide)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CA5DB-C95B-9274-6CC6-BBDD6124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FD21-F072-514B-1259-00E2A2C7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EXISTING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13F8-EA75-8B73-B691-9967DDB14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Write Existing system using bullet points (1 Slide)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33661-B8A5-5F64-B0B3-F069AAD4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45143-4DA4-EC25-D400-31811F43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80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89323-CAA4-5F8F-BC23-AF2428BA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72957-0B3A-B1DC-4183-C152345F0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PROPOSED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433FB-9787-5DBA-F8F3-B66560196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Write Proposed system using bullet points (1 Slide)</a:t>
            </a:r>
          </a:p>
          <a:p>
            <a:pPr lvl="0"/>
            <a:endParaRPr lang="en-US" dirty="0">
              <a:solidFill>
                <a:srgbClr val="000000"/>
              </a:solidFill>
              <a:ea typeface="Times New Roman"/>
              <a:cs typeface="Times New Roman"/>
              <a:sym typeface="Times New Roman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7E54E-77D1-E994-4D0C-79543779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B7F26-E457-6E29-93A0-124CF9B8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49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MOTIVATIONS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Write Project Motivations using bullet points (1 Slide)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FUNCTIONALITIES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Write Project Functionalities with short description using bullet points (1 to 2 Slide)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MODULE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Write Module Descriptions using bullet points (1 to 2 Slide)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the software tools/technologies used for developing the project like Operating System, Front End, Back End, Database, Framework, IDE etc..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BACKLOG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6" name="Google Shape;409;p32"/>
          <p:cNvGraphicFramePr/>
          <p:nvPr>
            <p:extLst>
              <p:ext uri="{D42A27DB-BD31-4B8C-83A1-F6EECF244321}">
                <p14:modId xmlns:p14="http://schemas.microsoft.com/office/powerpoint/2010/main" val="3206989839"/>
              </p:ext>
            </p:extLst>
          </p:nvPr>
        </p:nvGraphicFramePr>
        <p:xfrm>
          <a:off x="457200" y="1177233"/>
          <a:ext cx="8229599" cy="43853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35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9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0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6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6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36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361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36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36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88331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Backlog tem 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Status And Completion Date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Original Estimation in Hours </a:t>
                      </a:r>
                      <a:endParaRPr sz="12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1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2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3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4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5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6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7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8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9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10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18">
                <a:tc gridSpan="1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SPRINT1</a:t>
                      </a:r>
                      <a:endParaRPr sz="13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2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Table designing</a:t>
                      </a:r>
                      <a:endParaRPr sz="11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16/8/2022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2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Form designing</a:t>
                      </a:r>
                      <a:endParaRPr sz="11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22/8/2022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1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Coding</a:t>
                      </a:r>
                      <a:endParaRPr sz="11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27/8/2022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318">
                <a:tc gridSpan="1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SPRINT 2</a:t>
                      </a:r>
                      <a:endParaRPr sz="13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2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Data collection </a:t>
                      </a:r>
                      <a:endParaRPr sz="11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13/9/2022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137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Data processing</a:t>
                      </a:r>
                      <a:endParaRPr sz="11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29/9/2022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5596835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table given above is for reference only. Update/create a table with your data.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BACKLOG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5650468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table given above is for reference only. Update/create a table with your data. </a:t>
            </a:r>
          </a:p>
        </p:txBody>
      </p:sp>
      <p:graphicFrame>
        <p:nvGraphicFramePr>
          <p:cNvPr id="8" name="Google Shape;417;p33"/>
          <p:cNvGraphicFramePr/>
          <p:nvPr>
            <p:extLst>
              <p:ext uri="{D42A27DB-BD31-4B8C-83A1-F6EECF244321}">
                <p14:modId xmlns:p14="http://schemas.microsoft.com/office/powerpoint/2010/main" val="3902094266"/>
              </p:ext>
            </p:extLst>
          </p:nvPr>
        </p:nvGraphicFramePr>
        <p:xfrm>
          <a:off x="457199" y="1241610"/>
          <a:ext cx="8229603" cy="437462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35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9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1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0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9393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Backlog tem 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Status And Completion Date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Original Estimation in Hours 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1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2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3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4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5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6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7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8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9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10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23">
                <a:tc gridSpan="1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SPRINT3</a:t>
                      </a:r>
                      <a:endParaRPr sz="13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69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Course contents</a:t>
                      </a:r>
                      <a:endParaRPr sz="11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3/10/2022</a:t>
                      </a:r>
                      <a:endParaRPr sz="10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8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Assassement</a:t>
                      </a:r>
                      <a:endParaRPr sz="11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20/10/2022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623">
                <a:tc gridSpan="1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SPRINT 4</a:t>
                      </a:r>
                      <a:endParaRPr sz="13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8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Certificate</a:t>
                      </a:r>
                      <a:endParaRPr sz="11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8/11/2022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31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Testing</a:t>
                      </a:r>
                      <a:endParaRPr sz="11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15/11/2022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31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TOTAL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6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BACKLOG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6" name="Google Shape;374;p27"/>
          <p:cNvGraphicFramePr/>
          <p:nvPr>
            <p:extLst>
              <p:ext uri="{D42A27DB-BD31-4B8C-83A1-F6EECF244321}">
                <p14:modId xmlns:p14="http://schemas.microsoft.com/office/powerpoint/2010/main" val="716020743"/>
              </p:ext>
            </p:extLst>
          </p:nvPr>
        </p:nvGraphicFramePr>
        <p:xfrm>
          <a:off x="489375" y="1219200"/>
          <a:ext cx="8165225" cy="44499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1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        </a:t>
                      </a:r>
                      <a:r>
                        <a:rPr lang="en" b="1" dirty="0"/>
                        <a:t> ID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     </a:t>
                      </a:r>
                      <a:r>
                        <a:rPr lang="en" b="1" dirty="0"/>
                        <a:t>NAME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PRIORITY</a:t>
                      </a:r>
                      <a:endParaRPr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   </a:t>
                      </a:r>
                      <a:r>
                        <a:rPr lang="en" sz="1200" b="1" dirty="0"/>
                        <a:t>&lt;high/medium/low&gt;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ESTIMATE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/>
                        <a:t>(Hours)</a:t>
                      </a:r>
                      <a:endParaRPr sz="13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STATUS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&lt;Planned/In progress/Completed&gt;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REGISTRATION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5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COMPLETED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LOGIN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5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COMPLETED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3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CRUD(Course,Student,University)</a:t>
                      </a:r>
                      <a:endParaRPr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OPERATIONS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COMPLETED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STUDENT ENROLLMENT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COMPLETED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5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CERTIFICATE GENERATION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MEDIUM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COMPLETED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5726668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table given above is for reference only. Update/create a table with your data. </a:t>
            </a:r>
          </a:p>
        </p:txBody>
      </p:sp>
    </p:spTree>
    <p:extLst>
      <p:ext uri="{BB962C8B-B14F-4D97-AF65-F5344CB8AC3E}">
        <p14:creationId xmlns:p14="http://schemas.microsoft.com/office/powerpoint/2010/main" val="3729327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6" name="Google Shape;381;p28"/>
          <p:cNvGraphicFramePr/>
          <p:nvPr>
            <p:extLst>
              <p:ext uri="{D42A27DB-BD31-4B8C-83A1-F6EECF244321}">
                <p14:modId xmlns:p14="http://schemas.microsoft.com/office/powerpoint/2010/main" val="4059172709"/>
              </p:ext>
            </p:extLst>
          </p:nvPr>
        </p:nvGraphicFramePr>
        <p:xfrm>
          <a:off x="515964" y="1247240"/>
          <a:ext cx="8143125" cy="43302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2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 User Story ID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As a type of User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I want to </a:t>
                      </a:r>
                      <a:endParaRPr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&lt;Perform some task&gt;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So that i can</a:t>
                      </a:r>
                      <a:endParaRPr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&lt;Achieve Some Goal&gt; 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  1 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ADMIN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Login</a:t>
                      </a:r>
                      <a:endParaRPr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login successful with correct username and password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ADMIN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View and Manage</a:t>
                      </a:r>
                      <a:endParaRPr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Can view and Manage registered users,Faculties and Universities</a:t>
                      </a:r>
                      <a:endParaRPr sz="11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ADMIN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Verification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Verify Courses</a:t>
                      </a:r>
                      <a:endParaRPr sz="11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USER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Register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Can users register</a:t>
                      </a:r>
                      <a:r>
                        <a:rPr lang="en" sz="1300" dirty="0"/>
                        <a:t> </a:t>
                      </a:r>
                      <a:endParaRPr sz="13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USER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Login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login successful with correct username and password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USER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Enrollment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Can enroll in  any Courses</a:t>
                      </a:r>
                      <a:endParaRPr sz="11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USER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View Profile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View users profile in application</a:t>
                      </a:r>
                      <a:endParaRPr sz="12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5638800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table given above is for reference only. Update/create a table with your data. </a:t>
            </a:r>
          </a:p>
        </p:txBody>
      </p:sp>
    </p:spTree>
    <p:extLst>
      <p:ext uri="{BB962C8B-B14F-4D97-AF65-F5344CB8AC3E}">
        <p14:creationId xmlns:p14="http://schemas.microsoft.com/office/powerpoint/2010/main" val="3480335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5726668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table given above is for reference only. Update/create a table with your data. </a:t>
            </a:r>
          </a:p>
        </p:txBody>
      </p:sp>
      <p:graphicFrame>
        <p:nvGraphicFramePr>
          <p:cNvPr id="7" name="Google Shape;395;p30"/>
          <p:cNvGraphicFramePr/>
          <p:nvPr>
            <p:extLst>
              <p:ext uri="{D42A27DB-BD31-4B8C-83A1-F6EECF244321}">
                <p14:modId xmlns:p14="http://schemas.microsoft.com/office/powerpoint/2010/main" val="2944679008"/>
              </p:ext>
            </p:extLst>
          </p:nvPr>
        </p:nvGraphicFramePr>
        <p:xfrm>
          <a:off x="519390" y="1249950"/>
          <a:ext cx="8139700" cy="4388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11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6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6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9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User</a:t>
                      </a:r>
                      <a:endParaRPr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StoryID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Task Name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Start Date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End Date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   Days 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  Status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 Sprint 1</a:t>
                      </a:r>
                      <a:endParaRPr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     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16/08/2022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17/08/2022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10</a:t>
                      </a:r>
                      <a:endParaRPr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18/08/2022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19/08/2022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5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20/08/2022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22/08/2022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23/08/2022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24/08/2022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25/08/2022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27/08/2022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Sprint 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13/09/2022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23/09/2022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16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23/09/2022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24/09/2022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Completed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24/09/2022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29/09/2022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Completed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722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6" name="Google Shape;402;p31"/>
          <p:cNvGraphicFramePr/>
          <p:nvPr>
            <p:extLst>
              <p:ext uri="{D42A27DB-BD31-4B8C-83A1-F6EECF244321}">
                <p14:modId xmlns:p14="http://schemas.microsoft.com/office/powerpoint/2010/main" val="56936155"/>
              </p:ext>
            </p:extLst>
          </p:nvPr>
        </p:nvGraphicFramePr>
        <p:xfrm>
          <a:off x="505690" y="1219200"/>
          <a:ext cx="8137449" cy="43015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45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4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5084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User</a:t>
                      </a:r>
                      <a:endParaRPr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StoryID</a:t>
                      </a:r>
                      <a:endParaRPr b="1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Task Name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Start Date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End Date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   Days 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  Status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7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3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SPRINT 3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03/10/2022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06/10/2022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  14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7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6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07/10/2022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10/10/2022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7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13/10/2022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20/10/2022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7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SPRINT 4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28/10/2022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5/11/2022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10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7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7/11/2022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11/11/2022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Completed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7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13/11/2022</a:t>
                      </a:r>
                      <a:endParaRPr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15/11/2022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Completed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5638800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table given above is for reference only. Update/create a table with your data. </a:t>
            </a:r>
          </a:p>
        </p:txBody>
      </p:sp>
    </p:spTree>
    <p:extLst>
      <p:ext uri="{BB962C8B-B14F-4D97-AF65-F5344CB8AC3E}">
        <p14:creationId xmlns:p14="http://schemas.microsoft.com/office/powerpoint/2010/main" val="3560652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Google Shape;31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7800" y="1600200"/>
            <a:ext cx="6155475" cy="401958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90600" y="56388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figure given above is for reference only. Create a figure with your data. </a:t>
            </a:r>
          </a:p>
        </p:txBody>
      </p:sp>
    </p:spTree>
    <p:extLst>
      <p:ext uri="{BB962C8B-B14F-4D97-AF65-F5344CB8AC3E}">
        <p14:creationId xmlns:p14="http://schemas.microsoft.com/office/powerpoint/2010/main" val="2943013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1.1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Google Shape;32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9224" y="1600200"/>
            <a:ext cx="8207576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1066800" y="56388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figure given above is for reference only. Create a figure with your data. </a:t>
            </a:r>
          </a:p>
        </p:txBody>
      </p:sp>
    </p:spTree>
    <p:extLst>
      <p:ext uri="{BB962C8B-B14F-4D97-AF65-F5344CB8AC3E}">
        <p14:creationId xmlns:p14="http://schemas.microsoft.com/office/powerpoint/2010/main" val="354542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1.2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" name="Google Shape;332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2734" y="1600200"/>
            <a:ext cx="808786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1066800" y="56388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figure given above is for reference only. Create a figure with your data. </a:t>
            </a:r>
          </a:p>
        </p:txBody>
      </p:sp>
    </p:spTree>
    <p:extLst>
      <p:ext uri="{BB962C8B-B14F-4D97-AF65-F5344CB8AC3E}">
        <p14:creationId xmlns:p14="http://schemas.microsoft.com/office/powerpoint/2010/main" val="2305161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Place you ER Diagram (if any) here.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002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2872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1054</Words>
  <Application>Microsoft Office PowerPoint</Application>
  <PresentationFormat>On-screen Show (4:3)</PresentationFormat>
  <Paragraphs>441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Bookman Old Style</vt:lpstr>
      <vt:lpstr>Calibri</vt:lpstr>
      <vt:lpstr>Times New Roman</vt:lpstr>
      <vt:lpstr>Office Theme</vt:lpstr>
      <vt:lpstr>&lt;PROJECT TITLE&gt;</vt:lpstr>
      <vt:lpstr>PRODUCT OWNER  BALACHANDHRAN KP  ASSOCIATE PROFESSOR DEPARTMENT OF COMPUTER APPLICATIONS MES COLLEGE OF ENGINEERING, KUTTIPPURAM</vt:lpstr>
      <vt:lpstr>TABLE OF CONTENTS</vt:lpstr>
      <vt:lpstr>MARTIAL WORLD</vt:lpstr>
      <vt:lpstr>MARTIAL WORLD</vt:lpstr>
      <vt:lpstr>OBJECTIVES</vt:lpstr>
      <vt:lpstr>EXISTING SYSTEM</vt:lpstr>
      <vt:lpstr>PROPOSED SYSTEM</vt:lpstr>
      <vt:lpstr>MOTIVATIONS</vt:lpstr>
      <vt:lpstr>FUNCTIONALITIES</vt:lpstr>
      <vt:lpstr>MODULE DESCRIPTION</vt:lpstr>
      <vt:lpstr>DEVELOPING ENVIRONMENT</vt:lpstr>
      <vt:lpstr>SPRINT BACKLOG</vt:lpstr>
      <vt:lpstr>SPRINT BACKLOG</vt:lpstr>
      <vt:lpstr>PRODUCT BACKLOG</vt:lpstr>
      <vt:lpstr>USER STORY</vt:lpstr>
      <vt:lpstr>PROJECT PLAN</vt:lpstr>
      <vt:lpstr>PROJECT PLAN</vt:lpstr>
      <vt:lpstr>DATA FLOW DIAGRAM</vt:lpstr>
      <vt:lpstr>DATA FLOW DIAGRAM</vt:lpstr>
      <vt:lpstr>DATA FLOW DIAGRAM</vt:lpstr>
      <vt:lpstr>ER DIAGRAM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Faculty</dc:creator>
  <cp:lastModifiedBy>Admin</cp:lastModifiedBy>
  <cp:revision>40</cp:revision>
  <dcterms:created xsi:type="dcterms:W3CDTF">2024-09-27T10:56:22Z</dcterms:created>
  <dcterms:modified xsi:type="dcterms:W3CDTF">2025-08-13T02:37:05Z</dcterms:modified>
</cp:coreProperties>
</file>